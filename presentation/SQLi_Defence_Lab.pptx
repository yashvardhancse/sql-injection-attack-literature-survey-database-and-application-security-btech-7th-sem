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920240"/>
            <a:ext cx="12191695" cy="54864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ECEFF3"/>
                </a:solidFill>
                <a:latin typeface="Segoe UI"/>
              </a:rPr>
              <a:t>SQL Injection with Protection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 i="0">
                <a:solidFill>
                  <a:srgbClr val="4F8CFF"/>
                </a:solidFill>
                <a:latin typeface="Segoe UI"/>
              </a:rPr>
              <a:t>A Defence-in-Depth Study &amp; Multi-Variant Live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4B2"/>
                </a:solidFill>
                <a:latin typeface="Segoe UI"/>
              </a:rPr>
              <a:t>DAS — Project Element 4  ·  Team of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CEFF3"/>
                </a:solidFill>
                <a:latin typeface="Segoe UI"/>
              </a:rPr>
              <a:t>YashVardhan Gupta · 230905442      Sheldon Rodricks · 230905324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CEFF3"/>
                </a:solidFill>
                <a:latin typeface="Segoe UI"/>
              </a:rPr>
              <a:t>Lakshya Agrawal · 230905552      Aditya Aryan Sahu · 230905560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4B2"/>
                </a:solidFill>
                <a:latin typeface="Segoe UI"/>
              </a:rPr>
              <a:t>Dept. of Computer Science &amp; Engineering, Manipal Institute of Technology, MAHE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OVERVIEW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The problem &amp;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CEFF3"/>
                </a:solidFill>
                <a:latin typeface="Segoe UI"/>
              </a:rPr>
              <a:t>•  SQL injection (SQLi) = untrusted input parsed as SQL 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EFF3"/>
                </a:solidFill>
                <a:latin typeface="Segoe UI"/>
              </a:rPr>
              <a:t>•  OWASP Top-10 injection category for 20+ years; still bypassing commercial WAFs (Qu et al., 2024).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EFF3"/>
                </a:solidFill>
                <a:latin typeface="Segoe UI"/>
              </a:rPr>
              <a:t>•  Root cause: confusion of DATA and 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EFF3"/>
                </a:solidFill>
                <a:latin typeface="Segoe UI"/>
              </a:rPr>
              <a:t>•  Our thesis: no single control is enough — protection must be LAYERED.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CEFF3"/>
                </a:solidFill>
                <a:latin typeface="Segoe UI"/>
              </a:rPr>
              <a:t>•  Deliverables: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ECEFF3"/>
                </a:solidFill>
                <a:latin typeface="Segoe UI"/>
              </a:rPr>
              <a:t>–  10-paper literature survey (2023–2026)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ECEFF3"/>
                </a:solidFill>
                <a:latin typeface="Segoe UI"/>
              </a:rPr>
              <a:t>–  Research gap → objective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ECEFF3"/>
                </a:solidFill>
                <a:latin typeface="Segoe UI"/>
              </a:rPr>
              <a:t>–  Live prototype: 1 vulnerable + 5 protection variants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94960" cy="420624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4F8CFF"/>
                </a:solidFill>
                <a:latin typeface="Segoe UI"/>
              </a:rPr>
              <a:t>Attack in one 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4B2"/>
                </a:solidFill>
                <a:latin typeface="Segoe UI"/>
              </a:rPr>
              <a:t>Username: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FF5C72"/>
                </a:solidFill>
                <a:latin typeface="Consolas"/>
              </a:rPr>
              <a:t>admin' OR '1'='1' --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4B2"/>
                </a:solidFill>
                <a:latin typeface="Segoe UI"/>
              </a:rPr>
              <a:t>Resulting query: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CEFF3"/>
                </a:solidFill>
                <a:latin typeface="Consolas"/>
              </a:rPr>
              <a:t>SELECT ... WHERE username='admin'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CEFF3"/>
                </a:solidFill>
                <a:latin typeface="Consolas"/>
              </a:rPr>
              <a:t>OR '1'='1' --' AND password='x'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4D399"/>
                </a:solidFill>
                <a:latin typeface="Segoe UI"/>
              </a:rPr>
              <a:t>→ password check commented out → attacker is admin.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LITERATURE SURVEY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10 peer-reviewed papers (2023–2026)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3474720"/>
                <a:gridCol w="4206240"/>
              </a:tblGrid>
              <a:tr h="448887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ECEFF3"/>
                          </a:solidFill>
                        </a:rPr>
                        <a:t>Author(s)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ECEFF3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ECEFF3"/>
                          </a:solidFill>
                        </a:rPr>
                        <a:t>Venue (publisher)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ECEFF3"/>
                          </a:solidFill>
                        </a:rPr>
                        <a:t>Method / key result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Crespo-Martínez et al.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Computers &amp; Security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Flow-based ML (LR), &gt;97% DR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Alghawazi et al.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Mathematics (MDPI)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RNN autoencoder, 94% acc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Thalji et al.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IEEE Access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AE-Net + XGBoost, 0.99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Alotaibi &amp; Vassilakis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Future Internet (MDPI)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SDN-based WAF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Arasteh et al.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Neural Comput. &amp; Appl. (Springer)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Gray-Wolf feature select, 99.68%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Paul et al.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J. Info. Sec. &amp; Appl. (Elsevier)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CNN-LSTM detect+prevent, 97% F1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Qu et al.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IEEE TIFS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AdvSQLi — bypasses 7 WAFs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Bakır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Arabian J. Sci. Eng. (Springer)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Embedding fusion, 0.998 F1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Floris et al.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IEEE TIFS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Adv-robust WAF, +85% robustness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Ahmed &amp; Al-dabag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Computers (MDPI)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CEFF3"/>
                          </a:solidFill>
                        </a:rPr>
                        <a:t>Multi-embed + Flask WAF, 0.9987</a:t>
                      </a:r>
                    </a:p>
                  </a:txBody>
                  <a:tcPr>
                    <a:solidFill>
                      <a:srgbClr val="1E23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RESEARCH GAP → OBJECTIVE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What is still unsolved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Field has largely solved OFFLINE detection (0.94–0.99 accuracy).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Gap 1 — Adversarial robustness: WAFs &amp; ML detectors bypassable (Qu 2024).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Gap 2 — Generalization: single-dataset models fail on obfuscated / unseen payloads.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Gap 3 — Detection ≠ Prevention: few integrate secure-coding + learning as one pipeline.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Gap 4 — Deployment cost: heavy models add latency in-line.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94960" cy="429768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34D399"/>
                </a:solidFill>
                <a:latin typeface="Segoe UI"/>
              </a:rPr>
              <a:t>Our objective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ECEFF3"/>
                </a:solidFill>
                <a:latin typeface="Segoe UI"/>
              </a:rPr>
              <a:t>Design, implement &amp; evaluate a DEFENCE-IN-DEPTH login that combines more than one protection variant, and show on one payload battery that: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4B2"/>
                </a:solidFill>
                <a:latin typeface="Segoe UI"/>
              </a:rPr>
              <a:t>(i) the vulnerable baseline is trivially bypassed;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4B2"/>
                </a:solidFill>
                <a:latin typeface="Segoe UI"/>
              </a:rPr>
              <a:t>(ii) each control blocks it while legit login still works;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4B2"/>
                </a:solidFill>
                <a:latin typeface="Segoe UI"/>
              </a:rPr>
              <a:t>(iii) layered = strongest coverage at &lt; 1 ms query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PROTOTYPE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One attack, five defences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14173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09728" cy="1417320"/>
          </a:xfrm>
          <a:prstGeom prst="roundRect">
            <a:avLst/>
          </a:prstGeom>
          <a:solidFill>
            <a:srgbClr val="FF5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91056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5C72"/>
                </a:solidFill>
                <a:latin typeface="Segoe UI"/>
              </a:rPr>
              <a:t>Vulnerable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FF3"/>
                </a:solidFill>
                <a:latin typeface="Segoe UI"/>
              </a:rPr>
              <a:t>String concatenation — input parsed as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657600" cy="14173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109728" cy="1417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91056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V1 Parameterized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FF3"/>
                </a:solidFill>
                <a:latin typeface="Segoe UI"/>
              </a:rPr>
              <a:t>? placeholders — input bound as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657600" cy="14173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109728" cy="1417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91056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V2 Allow-list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FF3"/>
                </a:solidFill>
                <a:latin typeface="Segoe UI"/>
              </a:rPr>
              <a:t>Regex whitelist rejects bad input 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3657600" cy="14173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09728" cy="1417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91256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V3 ORM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FF3"/>
                </a:solidFill>
                <a:latin typeface="Segoe UI"/>
              </a:rPr>
              <a:t>SQLAlchemy — parameterized by construction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063240"/>
            <a:ext cx="3657600" cy="14173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3063240"/>
            <a:ext cx="109728" cy="1417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191256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V4 Hashing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FF3"/>
                </a:solidFill>
                <a:latin typeface="Segoe UI"/>
              </a:rPr>
              <a:t>Salted PBKDF2 — no plaintext compare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063240"/>
            <a:ext cx="3657600" cy="14173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3063240"/>
            <a:ext cx="109728" cy="141732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191256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V5 Signature WAF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CEFF3"/>
                </a:solidFill>
                <a:latin typeface="Segoe UI"/>
              </a:rPr>
              <a:t>Regex/heuristic gateway blocks payloads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4B2"/>
                </a:solidFill>
                <a:latin typeface="Segoe UI"/>
              </a:rPr>
              <a:t>Stack: Flask + SQLite + SQLAlchemy + Werkzeug.  The WAF layer can be toggled ON for ANY mode.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LIVE DEMO · 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Start the app &amp; open the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Run: python app.py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Open http://127.0.0.1:5000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Left = NovaBank login. Right = 'What is happening' panel.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Bottom = attack playbook with copy-paste payloads.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Mode selector defaults to 'Vulnerable'.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69280"/>
            <a:ext cx="4572000" cy="7315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79008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F8CFF"/>
                </a:solidFill>
                <a:latin typeface="Segoe UI"/>
              </a:rPr>
              <a:t>Ready to attack.</a:t>
            </a:r>
          </a:p>
        </p:txBody>
      </p:sp>
      <p:pic>
        <p:nvPicPr>
          <p:cNvPr id="8" name="Picture 7" descr="fig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492240" cy="6016915"/>
          </a:xfrm>
          <a:prstGeom prst="rect">
            <a:avLst/>
          </a:prstGeom>
          <a:ln w="12700">
            <a:solidFill>
              <a:srgbClr val="2A30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303520" y="61722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AA4B2"/>
                </a:solidFill>
                <a:latin typeface="Segoe UI"/>
              </a:rPr>
              <a:t>Fig. 1 — Login page (Vulnerable mode).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LIVE DEMO · STEP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Attack the vulnerable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Mode = Vulnerable, WAF = OFF.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Username:  admin' OR '1'='1' -- 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Password:  anything (e.g. x)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Click Sign in.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Query's password check is commented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69280"/>
            <a:ext cx="4572000" cy="7315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79008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5C72"/>
                </a:solidFill>
                <a:latin typeface="Segoe UI"/>
              </a:rPr>
              <a:t>⛔ Bypassed — attacker is admin.</a:t>
            </a:r>
          </a:p>
        </p:txBody>
      </p:sp>
      <p:pic>
        <p:nvPicPr>
          <p:cNvPr id="8" name="Picture 7" descr="fig02_vulnerable_bypas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492240" cy="5216979"/>
          </a:xfrm>
          <a:prstGeom prst="rect">
            <a:avLst/>
          </a:prstGeom>
          <a:ln w="12700">
            <a:solidFill>
              <a:srgbClr val="2A30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303520" y="61722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AA4B2"/>
                </a:solidFill>
                <a:latin typeface="Segoe UI"/>
              </a:rPr>
              <a:t>Fig. 2 — Authenticated as admin with NO valid password.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LIVE DEMO · STEP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Variant 1 — Parameterized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Switch Mode = Parameterized.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Replay the SAME payload.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Input is bound as a parameter, not SQL.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Panel shows: params = ["admin' OR '1'='1' -- ", "x"]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The query structure is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69280"/>
            <a:ext cx="4572000" cy="7315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79008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✅ Blocked — attack neutralised.</a:t>
            </a:r>
          </a:p>
        </p:txBody>
      </p:sp>
      <p:pic>
        <p:nvPicPr>
          <p:cNvPr id="8" name="Picture 7" descr="fig03_parameterized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492240" cy="6034305"/>
          </a:xfrm>
          <a:prstGeom prst="rect">
            <a:avLst/>
          </a:prstGeom>
          <a:ln w="12700">
            <a:solidFill>
              <a:srgbClr val="2A30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303520" y="61722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AA4B2"/>
                </a:solidFill>
                <a:latin typeface="Segoe UI"/>
              </a:rPr>
              <a:t>Fig. 3 — Payload treated as literal data; login denied.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LIVE DEMO · STEP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Variant 5 — Signature WAF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Enable 'Signature WAF' checkbox.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Replay the SAME payload (any mode).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WAF matches: tautology + comment rules.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Request is blocked BEFORE the database.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Mirrors OWASP CRS / ModSecurity approach.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69280"/>
            <a:ext cx="4572000" cy="7315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79008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✅ Blocked at layer 0.</a:t>
            </a:r>
          </a:p>
        </p:txBody>
      </p:sp>
      <p:pic>
        <p:nvPicPr>
          <p:cNvPr id="8" name="Picture 7" descr="fig04_waf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492240" cy="6016915"/>
          </a:xfrm>
          <a:prstGeom prst="rect">
            <a:avLst/>
          </a:prstGeom>
          <a:ln w="12700">
            <a:solidFill>
              <a:srgbClr val="2A30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303520" y="61722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AA4B2"/>
                </a:solidFill>
                <a:latin typeface="Segoe UI"/>
              </a:rPr>
              <a:t>Fig. 4 — WAF blocks the request at the gateway.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LIVE DEMO · STEP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Variant 2 — Allow-list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Switch Mode = Allow-list.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Payload has ' and spaces → outside allow-list.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Rejected before any query is built.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Regex: ^[A-Za-z0-9_.@-]{1,32}$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•  Legit usernames still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69280"/>
            <a:ext cx="4572000" cy="73152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79008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✅ Rejected early.</a:t>
            </a:r>
          </a:p>
        </p:txBody>
      </p:sp>
      <p:pic>
        <p:nvPicPr>
          <p:cNvPr id="8" name="Picture 7" descr="fig05_allowlist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492240" cy="6016915"/>
          </a:xfrm>
          <a:prstGeom prst="rect">
            <a:avLst/>
          </a:prstGeom>
          <a:ln w="12700">
            <a:solidFill>
              <a:srgbClr val="2A30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303520" y="61722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AA4B2"/>
                </a:solidFill>
                <a:latin typeface="Segoe UI"/>
              </a:rPr>
              <a:t>Fig. 5 — Input rejected by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RESULTS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Same payload, every mode (automated selftest.py)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966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ECEFF3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anchor="ctr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ECEFF3"/>
                          </a:solidFill>
                          <a:latin typeface="Segoe UI"/>
                        </a:rPr>
                        <a:t>WAF off: bypass?</a:t>
                      </a:r>
                    </a:p>
                  </a:txBody>
                  <a:tcPr anchor="ctr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ECEFF3"/>
                          </a:solidFill>
                          <a:latin typeface="Segoe UI"/>
                        </a:rPr>
                        <a:t>WAF on: bypass?</a:t>
                      </a:r>
                    </a:p>
                  </a:txBody>
                  <a:tcPr anchor="ctr"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ECEFF3"/>
                          </a:solidFill>
                          <a:latin typeface="Segoe UI"/>
                        </a:rPr>
                        <a:t>Legit login</a:t>
                      </a:r>
                    </a:p>
                  </a:txBody>
                  <a:tcPr anchor="ctr">
                    <a:solidFill>
                      <a:srgbClr val="4F8C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ECEFF3"/>
                          </a:solidFill>
                          <a:latin typeface="Segoe UI"/>
                        </a:rPr>
                        <a:t>Vulnerable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5C7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ECEF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ECEFF3"/>
                          </a:solidFill>
                          <a:latin typeface="Segoe UI"/>
                        </a:rPr>
                        <a:t>Parameterized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ECEFF3"/>
                          </a:solidFill>
                          <a:latin typeface="Segoe UI"/>
                        </a:rPr>
                        <a:t>Allow-list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ECEFF3"/>
                          </a:solidFill>
                          <a:latin typeface="Segoe UI"/>
                        </a:rPr>
                        <a:t>ORM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anchor="ctr">
                    <a:solidFill>
                      <a:srgbClr val="1E232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ECEFF3"/>
                          </a:solidFill>
                          <a:latin typeface="Segoe UI"/>
                        </a:rPr>
                        <a:t>Hashed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4D399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anchor="ctr">
                    <a:solidFill>
                      <a:srgbClr val="171B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39496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4B2"/>
                </a:solidFill>
                <a:latin typeface="Segoe UI"/>
              </a:rPr>
              <a:t>Only the vulnerable baseline (WAF off) is bypassed. Every protection variant blocks the attack; legitimate logins keep working. Measured query time &lt; 1 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381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8CFF"/>
                </a:solidFill>
                <a:latin typeface="Segoe UI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CEFF3"/>
                </a:solidFill>
                <a:latin typeface="Segoe UI"/>
              </a:rPr>
              <a:t>Takeaways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Root-cause controls (parameterization, ORM, hashing) are effectively FREE and defeat SQLi.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Validation + WAF add cheap early rejection — but are evadable, so never rely on them alone.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Strongest posture = stack a root-cause control WITH hashing AND a WAF (defence in depth).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CEFF3"/>
                </a:solidFill>
                <a:latin typeface="Segoe UI"/>
              </a:rPr>
              <a:t>•  Future work: add an adversarially-trained detection layer (cf. Floris et al., 2025);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ECEFF3"/>
                </a:solidFill>
                <a:latin typeface="Segoe UI"/>
              </a:rPr>
              <a:t>–  evaluate against mutated / blind payloads (cf. Qu et al., 2024).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206240" cy="4023360"/>
          </a:xfrm>
          <a:prstGeom prst="round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691640"/>
            <a:ext cx="374903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4F8CFF"/>
                </a:solidFill>
                <a:latin typeface="Segoe UI"/>
              </a:rPr>
              <a:t>Run it yourself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EFF3"/>
                </a:solidFill>
                <a:latin typeface="Consolas"/>
              </a:rPr>
              <a:t>pip install -r requirements.txt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CEFF3"/>
                </a:solidFill>
                <a:latin typeface="Consolas"/>
              </a:rPr>
              <a:t>python app.py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CEFF3"/>
                </a:solidFill>
                <a:latin typeface="Consolas"/>
              </a:rPr>
              <a:t>python selftest.py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A4B2"/>
                </a:solidFill>
                <a:latin typeface="Segoe UI"/>
              </a:rPr>
              <a:t>Repo: docs/ · report/ · prototype/ · demo/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12191695" cy="54864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CEFF3"/>
                </a:solidFill>
                <a:latin typeface="Segoe UI"/>
              </a:rPr>
              <a:t>Thank you — Questions?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4F8CFF"/>
                </a:solidFill>
                <a:latin typeface="Segoe UI"/>
              </a:rPr>
              <a:t>SQL Injection with Protection · Defence-in-Depth Live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SQLi Defence Lab · DAS PE4 · SQL Injection with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AA4B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