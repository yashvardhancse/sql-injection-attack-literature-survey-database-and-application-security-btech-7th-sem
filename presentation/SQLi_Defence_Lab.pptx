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1920240"/>
            <a:ext cx="12191695" cy="54864"/>
          </a:xfrm>
          <a:prstGeom prst="round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03120"/>
            <a:ext cx="103327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600" b="1" i="0">
                <a:solidFill>
                  <a:srgbClr val="ECEFF3"/>
                </a:solidFill>
                <a:latin typeface="Segoe UI"/>
              </a:rPr>
              <a:t>SQL Injection with Protection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400" b="0" i="0">
                <a:solidFill>
                  <a:srgbClr val="4F8CFF"/>
                </a:solidFill>
                <a:latin typeface="Segoe UI"/>
              </a:rPr>
              <a:t>A Defence-in-Depth Study &amp; Multi-Variant Live Prototype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206240"/>
            <a:ext cx="10332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9AA4B2"/>
                </a:solidFill>
                <a:latin typeface="Segoe UI"/>
              </a:rPr>
              <a:t>DAS — Project Element 4  ·  Team of 4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ECEFF3"/>
                </a:solidFill>
                <a:latin typeface="Segoe UI"/>
              </a:rPr>
              <a:t>Members:  [Name 1 · RegNo]   [Name 2 · RegNo]   [Name 3 · RegNo]   [Name 4 · RegNo]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9AA4B2"/>
                </a:solidFill>
                <a:latin typeface="Segoe UI"/>
              </a:rPr>
              <a:t>Dept. of Computer Science &amp; Engineering, Manipal Institute of Technology, MAHE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9AA4B2"/>
                </a:solidFill>
                <a:latin typeface="Segoe UI"/>
              </a:rPr>
              <a:t>SQLi Defence Lab · DAS PE4 · SQL Injection with Protection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9AA4B2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7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1051560"/>
            <a:ext cx="12191695" cy="38100"/>
          </a:xfrm>
          <a:prstGeom prst="round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4F8CFF"/>
                </a:solidFill>
                <a:latin typeface="Segoe UI"/>
              </a:rPr>
              <a:t>OVERVIEW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ECEFF3"/>
                </a:solidFill>
                <a:latin typeface="Segoe UI"/>
              </a:rPr>
              <a:t>The problem &amp; what we built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ECEFF3"/>
                </a:solidFill>
                <a:latin typeface="Segoe UI"/>
              </a:rPr>
              <a:t>•  SQL injection (SQLi) = untrusted input parsed as SQL code.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ECEFF3"/>
                </a:solidFill>
                <a:latin typeface="Segoe UI"/>
              </a:rPr>
              <a:t>•  OWASP Top-10 injection category for 20+ years; still bypassing commercial WAFs (Qu et al., 2024).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ECEFF3"/>
                </a:solidFill>
                <a:latin typeface="Segoe UI"/>
              </a:rPr>
              <a:t>•  Root cause: confusion of DATA and CODE.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ECEFF3"/>
                </a:solidFill>
                <a:latin typeface="Segoe UI"/>
              </a:rPr>
              <a:t>•  Our thesis: no single control is enough — protection must be LAYERED.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ECEFF3"/>
                </a:solidFill>
                <a:latin typeface="Segoe UI"/>
              </a:rPr>
              <a:t>•  Deliverables:</a:t>
            </a:r>
          </a:p>
          <a:p>
            <a:pPr lvl="1">
              <a:spcAft>
                <a:spcPts val="800"/>
              </a:spcAft>
            </a:pPr>
            <a:r>
              <a:rPr sz="1600">
                <a:solidFill>
                  <a:srgbClr val="ECEFF3"/>
                </a:solidFill>
                <a:latin typeface="Segoe UI"/>
              </a:rPr>
              <a:t>–  10-paper literature survey (2023–2026)</a:t>
            </a:r>
          </a:p>
          <a:p>
            <a:pPr lvl="1">
              <a:spcAft>
                <a:spcPts val="800"/>
              </a:spcAft>
            </a:pPr>
            <a:r>
              <a:rPr sz="1600">
                <a:solidFill>
                  <a:srgbClr val="ECEFF3"/>
                </a:solidFill>
                <a:latin typeface="Segoe UI"/>
              </a:rPr>
              <a:t>–  Research gap → objective</a:t>
            </a:r>
          </a:p>
          <a:p>
            <a:pPr lvl="1">
              <a:spcAft>
                <a:spcPts val="800"/>
              </a:spcAft>
            </a:pPr>
            <a:r>
              <a:rPr sz="1600">
                <a:solidFill>
                  <a:srgbClr val="ECEFF3"/>
                </a:solidFill>
                <a:latin typeface="Segoe UI"/>
              </a:rPr>
              <a:t>–  Live prototype: 1 vulnerable + 5 protection variants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463040"/>
            <a:ext cx="5394960" cy="4206240"/>
          </a:xfrm>
          <a:prstGeom prst="roundRect">
            <a:avLst/>
          </a:prstGeom>
          <a:solidFill>
            <a:srgbClr val="17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645920"/>
            <a:ext cx="484632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4F8CFF"/>
                </a:solidFill>
                <a:latin typeface="Segoe UI"/>
              </a:rPr>
              <a:t>Attack in one line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9AA4B2"/>
                </a:solidFill>
                <a:latin typeface="Segoe UI"/>
              </a:rPr>
              <a:t>Username: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1" i="0">
                <a:solidFill>
                  <a:srgbClr val="FF5C72"/>
                </a:solidFill>
                <a:latin typeface="Consolas"/>
              </a:rPr>
              <a:t>admin' OR '1'='1' -- 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9AA4B2"/>
                </a:solidFill>
                <a:latin typeface="Segoe UI"/>
              </a:rPr>
              <a:t>Resulting query: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CEFF3"/>
                </a:solidFill>
                <a:latin typeface="Consolas"/>
              </a:rPr>
              <a:t>SELECT ... WHERE username='admin'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 i="0">
                <a:solidFill>
                  <a:srgbClr val="ECEFF3"/>
                </a:solidFill>
                <a:latin typeface="Consolas"/>
              </a:rPr>
              <a:t>OR '1'='1' --' AND password='x'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34D399"/>
                </a:solidFill>
                <a:latin typeface="Segoe UI"/>
              </a:rPr>
              <a:t>→ password check commented out → attacker is admin.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9AA4B2"/>
                </a:solidFill>
                <a:latin typeface="Segoe UI"/>
              </a:rPr>
              <a:t>SQLi Defence Lab · DAS PE4 · SQL Injection with Protection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9AA4B2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7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1051560"/>
            <a:ext cx="12191695" cy="38100"/>
          </a:xfrm>
          <a:prstGeom prst="round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4F8CFF"/>
                </a:solidFill>
                <a:latin typeface="Segoe UI"/>
              </a:rPr>
              <a:t>LITERATURE SURVEY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ECEFF3"/>
                </a:solidFill>
                <a:latin typeface="Segoe UI"/>
              </a:rPr>
              <a:t>10 peer-reviewed papers (2023–2026)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325880"/>
          <a:ext cx="1143000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822960"/>
                <a:gridCol w="3474720"/>
                <a:gridCol w="4206240"/>
              </a:tblGrid>
              <a:tr h="448887"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ECEFF3"/>
                          </a:solidFill>
                        </a:rPr>
                        <a:t>Author(s)</a:t>
                      </a:r>
                    </a:p>
                  </a:txBody>
                  <a:tcPr>
                    <a:solidFill>
                      <a:srgbClr val="4F8C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ECEFF3"/>
                          </a:solidFill>
                        </a:rPr>
                        <a:t>Year</a:t>
                      </a:r>
                    </a:p>
                  </a:txBody>
                  <a:tcPr>
                    <a:solidFill>
                      <a:srgbClr val="4F8C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ECEFF3"/>
                          </a:solidFill>
                        </a:rPr>
                        <a:t>Venue (publisher)</a:t>
                      </a:r>
                    </a:p>
                  </a:txBody>
                  <a:tcPr>
                    <a:solidFill>
                      <a:srgbClr val="4F8C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ECEFF3"/>
                          </a:solidFill>
                        </a:rPr>
                        <a:t>Method / key result</a:t>
                      </a:r>
                    </a:p>
                  </a:txBody>
                  <a:tcPr>
                    <a:solidFill>
                      <a:srgbClr val="4F8CFF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ECEFF3"/>
                          </a:solidFill>
                        </a:rPr>
                        <a:t>Crespo-Martínez et al.</a:t>
                      </a:r>
                    </a:p>
                  </a:txBody>
                  <a:tcPr>
                    <a:solidFill>
                      <a:srgbClr val="171B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ECEFF3"/>
                          </a:solidFill>
                        </a:rPr>
                        <a:t>2023</a:t>
                      </a:r>
                    </a:p>
                  </a:txBody>
                  <a:tcPr>
                    <a:solidFill>
                      <a:srgbClr val="171B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ECEFF3"/>
                          </a:solidFill>
                        </a:rPr>
                        <a:t>Computers &amp; Security</a:t>
                      </a:r>
                    </a:p>
                  </a:txBody>
                  <a:tcPr>
                    <a:solidFill>
                      <a:srgbClr val="171B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ECEFF3"/>
                          </a:solidFill>
                        </a:rPr>
                        <a:t>Flow-based ML (LR), &gt;97% DR</a:t>
                      </a:r>
                    </a:p>
                  </a:txBody>
                  <a:tcPr>
                    <a:solidFill>
                      <a:srgbClr val="171B22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ECEFF3"/>
                          </a:solidFill>
                        </a:rPr>
                        <a:t>Alghawazi et al.</a:t>
                      </a:r>
                    </a:p>
                  </a:txBody>
                  <a:tcPr>
                    <a:solidFill>
                      <a:srgbClr val="1E23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ECEFF3"/>
                          </a:solidFill>
                        </a:rPr>
                        <a:t>2023</a:t>
                      </a:r>
                    </a:p>
                  </a:txBody>
                  <a:tcPr>
                    <a:solidFill>
                      <a:srgbClr val="1E23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ECEFF3"/>
                          </a:solidFill>
                        </a:rPr>
                        <a:t>Mathematics (MDPI)</a:t>
                      </a:r>
                    </a:p>
                  </a:txBody>
                  <a:tcPr>
                    <a:solidFill>
                      <a:srgbClr val="1E23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ECEFF3"/>
                          </a:solidFill>
                        </a:rPr>
                        <a:t>RNN autoencoder, 94% acc</a:t>
                      </a:r>
                    </a:p>
                  </a:txBody>
                  <a:tcPr>
                    <a:solidFill>
                      <a:srgbClr val="1E232C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ECEFF3"/>
                          </a:solidFill>
                        </a:rPr>
                        <a:t>Thalji et al.</a:t>
                      </a:r>
                    </a:p>
                  </a:txBody>
                  <a:tcPr>
                    <a:solidFill>
                      <a:srgbClr val="171B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ECEFF3"/>
                          </a:solidFill>
                        </a:rPr>
                        <a:t>2023</a:t>
                      </a:r>
                    </a:p>
                  </a:txBody>
                  <a:tcPr>
                    <a:solidFill>
                      <a:srgbClr val="171B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ECEFF3"/>
                          </a:solidFill>
                        </a:rPr>
                        <a:t>IEEE Access</a:t>
                      </a:r>
                    </a:p>
                  </a:txBody>
                  <a:tcPr>
                    <a:solidFill>
                      <a:srgbClr val="171B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ECEFF3"/>
                          </a:solidFill>
                        </a:rPr>
                        <a:t>AE-Net + XGBoost, 0.99</a:t>
                      </a:r>
                    </a:p>
                  </a:txBody>
                  <a:tcPr>
                    <a:solidFill>
                      <a:srgbClr val="171B22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ECEFF3"/>
                          </a:solidFill>
                        </a:rPr>
                        <a:t>Alotaibi &amp; Vassilakis</a:t>
                      </a:r>
                    </a:p>
                  </a:txBody>
                  <a:tcPr>
                    <a:solidFill>
                      <a:srgbClr val="1E23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ECEFF3"/>
                          </a:solidFill>
                        </a:rPr>
                        <a:t>2023</a:t>
                      </a:r>
                    </a:p>
                  </a:txBody>
                  <a:tcPr>
                    <a:solidFill>
                      <a:srgbClr val="1E23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ECEFF3"/>
                          </a:solidFill>
                        </a:rPr>
                        <a:t>Future Internet (MDPI)</a:t>
                      </a:r>
                    </a:p>
                  </a:txBody>
                  <a:tcPr>
                    <a:solidFill>
                      <a:srgbClr val="1E23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ECEFF3"/>
                          </a:solidFill>
                        </a:rPr>
                        <a:t>SDN-based WAF</a:t>
                      </a:r>
                    </a:p>
                  </a:txBody>
                  <a:tcPr>
                    <a:solidFill>
                      <a:srgbClr val="1E232C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ECEFF3"/>
                          </a:solidFill>
                        </a:rPr>
                        <a:t>Arasteh et al.</a:t>
                      </a:r>
                    </a:p>
                  </a:txBody>
                  <a:tcPr>
                    <a:solidFill>
                      <a:srgbClr val="171B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ECEFF3"/>
                          </a:solidFill>
                        </a:rPr>
                        <a:t>2024</a:t>
                      </a:r>
                    </a:p>
                  </a:txBody>
                  <a:tcPr>
                    <a:solidFill>
                      <a:srgbClr val="171B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ECEFF3"/>
                          </a:solidFill>
                        </a:rPr>
                        <a:t>Neural Comput. &amp; Appl. (Springer)</a:t>
                      </a:r>
                    </a:p>
                  </a:txBody>
                  <a:tcPr>
                    <a:solidFill>
                      <a:srgbClr val="171B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ECEFF3"/>
                          </a:solidFill>
                        </a:rPr>
                        <a:t>Gray-Wolf feature select, 99.68%</a:t>
                      </a:r>
                    </a:p>
                  </a:txBody>
                  <a:tcPr>
                    <a:solidFill>
                      <a:srgbClr val="171B22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ECEFF3"/>
                          </a:solidFill>
                        </a:rPr>
                        <a:t>Paul et al.</a:t>
                      </a:r>
                    </a:p>
                  </a:txBody>
                  <a:tcPr>
                    <a:solidFill>
                      <a:srgbClr val="1E23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ECEFF3"/>
                          </a:solidFill>
                        </a:rPr>
                        <a:t>2024</a:t>
                      </a:r>
                    </a:p>
                  </a:txBody>
                  <a:tcPr>
                    <a:solidFill>
                      <a:srgbClr val="1E23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ECEFF3"/>
                          </a:solidFill>
                        </a:rPr>
                        <a:t>J. Info. Sec. &amp; Appl. (Elsevier)</a:t>
                      </a:r>
                    </a:p>
                  </a:txBody>
                  <a:tcPr>
                    <a:solidFill>
                      <a:srgbClr val="1E23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ECEFF3"/>
                          </a:solidFill>
                        </a:rPr>
                        <a:t>CNN-LSTM detect+prevent, 97% F1</a:t>
                      </a:r>
                    </a:p>
                  </a:txBody>
                  <a:tcPr>
                    <a:solidFill>
                      <a:srgbClr val="1E232C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ECEFF3"/>
                          </a:solidFill>
                        </a:rPr>
                        <a:t>Qu et al.</a:t>
                      </a:r>
                    </a:p>
                  </a:txBody>
                  <a:tcPr>
                    <a:solidFill>
                      <a:srgbClr val="171B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ECEFF3"/>
                          </a:solidFill>
                        </a:rPr>
                        <a:t>2024</a:t>
                      </a:r>
                    </a:p>
                  </a:txBody>
                  <a:tcPr>
                    <a:solidFill>
                      <a:srgbClr val="171B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ECEFF3"/>
                          </a:solidFill>
                        </a:rPr>
                        <a:t>IEEE TIFS</a:t>
                      </a:r>
                    </a:p>
                  </a:txBody>
                  <a:tcPr>
                    <a:solidFill>
                      <a:srgbClr val="171B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ECEFF3"/>
                          </a:solidFill>
                        </a:rPr>
                        <a:t>AdvSQLi — bypasses 7 WAFs</a:t>
                      </a:r>
                    </a:p>
                  </a:txBody>
                  <a:tcPr>
                    <a:solidFill>
                      <a:srgbClr val="171B22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ECEFF3"/>
                          </a:solidFill>
                        </a:rPr>
                        <a:t>Bakır</a:t>
                      </a:r>
                    </a:p>
                  </a:txBody>
                  <a:tcPr>
                    <a:solidFill>
                      <a:srgbClr val="1E23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ECEFF3"/>
                          </a:solidFill>
                        </a:rPr>
                        <a:t>2025</a:t>
                      </a:r>
                    </a:p>
                  </a:txBody>
                  <a:tcPr>
                    <a:solidFill>
                      <a:srgbClr val="1E23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ECEFF3"/>
                          </a:solidFill>
                        </a:rPr>
                        <a:t>Arabian J. Sci. Eng. (Springer)</a:t>
                      </a:r>
                    </a:p>
                  </a:txBody>
                  <a:tcPr>
                    <a:solidFill>
                      <a:srgbClr val="1E23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ECEFF3"/>
                          </a:solidFill>
                        </a:rPr>
                        <a:t>Embedding fusion, 0.998 F1</a:t>
                      </a:r>
                    </a:p>
                  </a:txBody>
                  <a:tcPr>
                    <a:solidFill>
                      <a:srgbClr val="1E232C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ECEFF3"/>
                          </a:solidFill>
                        </a:rPr>
                        <a:t>Floris et al.</a:t>
                      </a:r>
                    </a:p>
                  </a:txBody>
                  <a:tcPr>
                    <a:solidFill>
                      <a:srgbClr val="171B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ECEFF3"/>
                          </a:solidFill>
                        </a:rPr>
                        <a:t>2025</a:t>
                      </a:r>
                    </a:p>
                  </a:txBody>
                  <a:tcPr>
                    <a:solidFill>
                      <a:srgbClr val="171B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ECEFF3"/>
                          </a:solidFill>
                        </a:rPr>
                        <a:t>IEEE TIFS</a:t>
                      </a:r>
                    </a:p>
                  </a:txBody>
                  <a:tcPr>
                    <a:solidFill>
                      <a:srgbClr val="171B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ECEFF3"/>
                          </a:solidFill>
                        </a:rPr>
                        <a:t>Adv-robust WAF, +85% robustness</a:t>
                      </a:r>
                    </a:p>
                  </a:txBody>
                  <a:tcPr>
                    <a:solidFill>
                      <a:srgbClr val="171B22"/>
                    </a:solidFill>
                  </a:tcPr>
                </a:tc>
              </a:tr>
              <a:tr h="448890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ECEFF3"/>
                          </a:solidFill>
                        </a:rPr>
                        <a:t>Ahmed &amp; Al-dabag</a:t>
                      </a:r>
                    </a:p>
                  </a:txBody>
                  <a:tcPr>
                    <a:solidFill>
                      <a:srgbClr val="1E23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ECEFF3"/>
                          </a:solidFill>
                        </a:rPr>
                        <a:t>2026</a:t>
                      </a:r>
                    </a:p>
                  </a:txBody>
                  <a:tcPr>
                    <a:solidFill>
                      <a:srgbClr val="1E23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ECEFF3"/>
                          </a:solidFill>
                        </a:rPr>
                        <a:t>Computers (MDPI)</a:t>
                      </a:r>
                    </a:p>
                  </a:txBody>
                  <a:tcPr>
                    <a:solidFill>
                      <a:srgbClr val="1E23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ECEFF3"/>
                          </a:solidFill>
                        </a:rPr>
                        <a:t>Multi-embed + Flask WAF, 0.9987</a:t>
                      </a:r>
                    </a:p>
                  </a:txBody>
                  <a:tcPr>
                    <a:solidFill>
                      <a:srgbClr val="1E232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9AA4B2"/>
                </a:solidFill>
                <a:latin typeface="Segoe UI"/>
              </a:rPr>
              <a:t>SQLi Defence Lab · DAS PE4 · SQL Injection with Protection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9AA4B2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7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1051560"/>
            <a:ext cx="12191695" cy="38100"/>
          </a:xfrm>
          <a:prstGeom prst="round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4F8CFF"/>
                </a:solidFill>
                <a:latin typeface="Segoe UI"/>
              </a:rPr>
              <a:t>RESEARCH GAP → OBJECTIVE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ECEFF3"/>
                </a:solidFill>
                <a:latin typeface="Segoe UI"/>
              </a:rPr>
              <a:t>What is still unsolved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ECEFF3"/>
                </a:solidFill>
                <a:latin typeface="Segoe UI"/>
              </a:rPr>
              <a:t>•  Field has largely solved OFFLINE detection (0.94–0.99 accuracy).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ECEFF3"/>
                </a:solidFill>
                <a:latin typeface="Segoe UI"/>
              </a:rPr>
              <a:t>•  Gap 1 — Adversarial robustness: WAFs &amp; ML detectors bypassable (Qu 2024).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ECEFF3"/>
                </a:solidFill>
                <a:latin typeface="Segoe UI"/>
              </a:rPr>
              <a:t>•  Gap 2 — Generalization: single-dataset models fail on obfuscated / unseen payloads.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ECEFF3"/>
                </a:solidFill>
                <a:latin typeface="Segoe UI"/>
              </a:rPr>
              <a:t>•  Gap 3 — Detection ≠ Prevention: few integrate secure-coding + learning as one pipeline.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ECEFF3"/>
                </a:solidFill>
                <a:latin typeface="Segoe UI"/>
              </a:rPr>
              <a:t>•  Gap 4 — Deployment cost: heavy models add latency in-line.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463040"/>
            <a:ext cx="5394960" cy="4297680"/>
          </a:xfrm>
          <a:prstGeom prst="roundRect">
            <a:avLst/>
          </a:prstGeom>
          <a:solidFill>
            <a:srgbClr val="17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645920"/>
            <a:ext cx="4846320" cy="3931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34D399"/>
                </a:solidFill>
                <a:latin typeface="Segoe UI"/>
              </a:rPr>
              <a:t>Our objective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ECEFF3"/>
                </a:solidFill>
                <a:latin typeface="Segoe UI"/>
              </a:rPr>
              <a:t>Design, implement &amp; evaluate a DEFENCE-IN-DEPTH login that combines more than one protection variant, and show on one payload battery that: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9AA4B2"/>
                </a:solidFill>
                <a:latin typeface="Segoe UI"/>
              </a:rPr>
              <a:t>(i) the vulnerable baseline is trivially bypassed;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9AA4B2"/>
                </a:solidFill>
                <a:latin typeface="Segoe UI"/>
              </a:rPr>
              <a:t>(ii) each control blocks it while legit login still works;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9AA4B2"/>
                </a:solidFill>
                <a:latin typeface="Segoe UI"/>
              </a:rPr>
              <a:t>(iii) layered = strongest coverage at &lt; 1 ms query cost.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9AA4B2"/>
                </a:solidFill>
                <a:latin typeface="Segoe UI"/>
              </a:rPr>
              <a:t>SQLi Defence Lab · DAS PE4 · SQL Injection with Protection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9AA4B2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7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1051560"/>
            <a:ext cx="12191695" cy="38100"/>
          </a:xfrm>
          <a:prstGeom prst="round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4F8CFF"/>
                </a:solidFill>
                <a:latin typeface="Segoe UI"/>
              </a:rPr>
              <a:t>PROTOTYPE DESIGN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ECEFF3"/>
                </a:solidFill>
                <a:latin typeface="Segoe UI"/>
              </a:rPr>
              <a:t>One attack, five defences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63040"/>
            <a:ext cx="3657600" cy="1417320"/>
          </a:xfrm>
          <a:prstGeom prst="roundRect">
            <a:avLst/>
          </a:prstGeom>
          <a:solidFill>
            <a:srgbClr val="17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463040"/>
            <a:ext cx="109728" cy="1417320"/>
          </a:xfrm>
          <a:prstGeom prst="roundRect">
            <a:avLst/>
          </a:prstGeom>
          <a:solidFill>
            <a:srgbClr val="FF5C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1591056"/>
            <a:ext cx="329184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5C72"/>
                </a:solidFill>
                <a:latin typeface="Segoe UI"/>
              </a:rPr>
              <a:t>Vulnerable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ECEFF3"/>
                </a:solidFill>
                <a:latin typeface="Segoe UI"/>
              </a:rPr>
              <a:t>String concatenation — input parsed as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51960" y="1463040"/>
            <a:ext cx="3657600" cy="1417320"/>
          </a:xfrm>
          <a:prstGeom prst="roundRect">
            <a:avLst/>
          </a:prstGeom>
          <a:solidFill>
            <a:srgbClr val="17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251960" y="1463040"/>
            <a:ext cx="109728" cy="1417320"/>
          </a:xfrm>
          <a:prstGeom prst="round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07992" y="1591056"/>
            <a:ext cx="329184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34D399"/>
                </a:solidFill>
                <a:latin typeface="Segoe UI"/>
              </a:rPr>
              <a:t>V1 Parameterized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ECEFF3"/>
                </a:solidFill>
                <a:latin typeface="Segoe UI"/>
              </a:rPr>
              <a:t>? placeholders — input bound as data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463040"/>
            <a:ext cx="3657600" cy="1417320"/>
          </a:xfrm>
          <a:prstGeom prst="roundRect">
            <a:avLst/>
          </a:prstGeom>
          <a:solidFill>
            <a:srgbClr val="17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046720" y="1463040"/>
            <a:ext cx="109728" cy="1417320"/>
          </a:xfrm>
          <a:prstGeom prst="round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2" y="1591056"/>
            <a:ext cx="329184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34D399"/>
                </a:solidFill>
                <a:latin typeface="Segoe UI"/>
              </a:rPr>
              <a:t>V2 Allow-list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ECEFF3"/>
                </a:solidFill>
                <a:latin typeface="Segoe UI"/>
              </a:rPr>
              <a:t>Regex whitelist rejects bad input early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063240"/>
            <a:ext cx="3657600" cy="1417320"/>
          </a:xfrm>
          <a:prstGeom prst="roundRect">
            <a:avLst/>
          </a:prstGeom>
          <a:solidFill>
            <a:srgbClr val="17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7200" y="3063240"/>
            <a:ext cx="109728" cy="1417320"/>
          </a:xfrm>
          <a:prstGeom prst="round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3191256"/>
            <a:ext cx="329184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34D399"/>
                </a:solidFill>
                <a:latin typeface="Segoe UI"/>
              </a:rPr>
              <a:t>V3 ORM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ECEFF3"/>
                </a:solidFill>
                <a:latin typeface="Segoe UI"/>
              </a:rPr>
              <a:t>SQLAlchemy — parameterized by construction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51960" y="3063240"/>
            <a:ext cx="3657600" cy="1417320"/>
          </a:xfrm>
          <a:prstGeom prst="roundRect">
            <a:avLst/>
          </a:prstGeom>
          <a:solidFill>
            <a:srgbClr val="17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251960" y="3063240"/>
            <a:ext cx="109728" cy="1417320"/>
          </a:xfrm>
          <a:prstGeom prst="round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07992" y="3191256"/>
            <a:ext cx="329184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34D399"/>
                </a:solidFill>
                <a:latin typeface="Segoe UI"/>
              </a:rPr>
              <a:t>V4 Hashing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ECEFF3"/>
                </a:solidFill>
                <a:latin typeface="Segoe UI"/>
              </a:rPr>
              <a:t>Salted PBKDF2 — no plaintext compare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20" y="3063240"/>
            <a:ext cx="3657600" cy="1417320"/>
          </a:xfrm>
          <a:prstGeom prst="roundRect">
            <a:avLst/>
          </a:prstGeom>
          <a:solidFill>
            <a:srgbClr val="17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046720" y="3063240"/>
            <a:ext cx="109728" cy="1417320"/>
          </a:xfrm>
          <a:prstGeom prst="round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2752" y="3191256"/>
            <a:ext cx="329184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34D399"/>
                </a:solidFill>
                <a:latin typeface="Segoe UI"/>
              </a:rPr>
              <a:t>V5 Signature WAF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ECEFF3"/>
                </a:solidFill>
                <a:latin typeface="Segoe UI"/>
              </a:rPr>
              <a:t>Regex/heuristic gateway blocks payloads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12064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9AA4B2"/>
                </a:solidFill>
                <a:latin typeface="Segoe UI"/>
              </a:rPr>
              <a:t>Stack: Flask + SQLite + SQLAlchemy + Werkzeug.  The WAF layer can be toggled ON for ANY mode.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9AA4B2"/>
                </a:solidFill>
                <a:latin typeface="Segoe UI"/>
              </a:rPr>
              <a:t>SQLi Defence Lab · DAS PE4 · SQL Injection with Protection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9AA4B2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7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1051560"/>
            <a:ext cx="12191695" cy="38100"/>
          </a:xfrm>
          <a:prstGeom prst="round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4F8CFF"/>
                </a:solidFill>
                <a:latin typeface="Segoe UI"/>
              </a:rPr>
              <a:t>LIVE DEMO · STEP 1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ECEFF3"/>
                </a:solidFill>
                <a:latin typeface="Segoe UI"/>
              </a:rPr>
              <a:t>Start the app &amp; open the login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4572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>
                <a:solidFill>
                  <a:srgbClr val="ECEFF3"/>
                </a:solidFill>
                <a:latin typeface="Segoe UI"/>
              </a:rPr>
              <a:t>•  Run: python app.py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ECEFF3"/>
                </a:solidFill>
                <a:latin typeface="Segoe UI"/>
              </a:rPr>
              <a:t>•  Open http://127.0.0.1:5000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ECEFF3"/>
                </a:solidFill>
                <a:latin typeface="Segoe UI"/>
              </a:rPr>
              <a:t>•  Left = NovaBank login. Right = 'What is happening' panel.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ECEFF3"/>
                </a:solidFill>
                <a:latin typeface="Segoe UI"/>
              </a:rPr>
              <a:t>•  Bottom = attack playbook with copy-paste payloads.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ECEFF3"/>
                </a:solidFill>
                <a:latin typeface="Segoe UI"/>
              </a:rPr>
              <a:t>•  Mode selector defaults to 'Vulnerable'.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5669280"/>
            <a:ext cx="4572000" cy="731520"/>
          </a:xfrm>
          <a:prstGeom prst="roundRect">
            <a:avLst/>
          </a:prstGeom>
          <a:solidFill>
            <a:srgbClr val="17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5779008"/>
            <a:ext cx="4297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4F8CFF"/>
                </a:solidFill>
                <a:latin typeface="Segoe UI"/>
              </a:rPr>
              <a:t>Ready to attack.</a:t>
            </a:r>
          </a:p>
        </p:txBody>
      </p:sp>
      <p:pic>
        <p:nvPicPr>
          <p:cNvPr id="8" name="Picture 7" descr="fig01_login_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371600"/>
            <a:ext cx="6492240" cy="6016915"/>
          </a:xfrm>
          <a:prstGeom prst="rect">
            <a:avLst/>
          </a:prstGeom>
          <a:ln w="12700">
            <a:solidFill>
              <a:srgbClr val="2A303A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303520" y="6172200"/>
            <a:ext cx="6492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1">
                <a:solidFill>
                  <a:srgbClr val="9AA4B2"/>
                </a:solidFill>
                <a:latin typeface="Segoe UI"/>
              </a:rPr>
              <a:t>Fig. 1 — Login page (Vulnerable mode).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9AA4B2"/>
                </a:solidFill>
                <a:latin typeface="Segoe UI"/>
              </a:rPr>
              <a:t>SQLi Defence Lab · DAS PE4 · SQL Injection with Protection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9AA4B2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7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1051560"/>
            <a:ext cx="12191695" cy="38100"/>
          </a:xfrm>
          <a:prstGeom prst="round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4F8CFF"/>
                </a:solidFill>
                <a:latin typeface="Segoe UI"/>
              </a:rPr>
              <a:t>LIVE DEMO · STEP 2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ECEFF3"/>
                </a:solidFill>
                <a:latin typeface="Segoe UI"/>
              </a:rPr>
              <a:t>Attack the vulnerable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4572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>
                <a:solidFill>
                  <a:srgbClr val="ECEFF3"/>
                </a:solidFill>
                <a:latin typeface="Segoe UI"/>
              </a:rPr>
              <a:t>•  Mode = Vulnerable, WAF = OFF.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ECEFF3"/>
                </a:solidFill>
                <a:latin typeface="Segoe UI"/>
              </a:rPr>
              <a:t>•  Username:  admin' OR '1'='1' -- 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ECEFF3"/>
                </a:solidFill>
                <a:latin typeface="Segoe UI"/>
              </a:rPr>
              <a:t>•  Password:  anything (e.g. x)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ECEFF3"/>
                </a:solidFill>
                <a:latin typeface="Segoe UI"/>
              </a:rPr>
              <a:t>•  Click Sign in.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ECEFF3"/>
                </a:solidFill>
                <a:latin typeface="Segoe UI"/>
              </a:rPr>
              <a:t>•  Query's password check is commented out.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5669280"/>
            <a:ext cx="4572000" cy="731520"/>
          </a:xfrm>
          <a:prstGeom prst="roundRect">
            <a:avLst/>
          </a:prstGeom>
          <a:solidFill>
            <a:srgbClr val="17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5779008"/>
            <a:ext cx="4297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5C72"/>
                </a:solidFill>
                <a:latin typeface="Segoe UI"/>
              </a:rPr>
              <a:t>⛔ Bypassed — attacker is admin.</a:t>
            </a:r>
          </a:p>
        </p:txBody>
      </p:sp>
      <p:pic>
        <p:nvPicPr>
          <p:cNvPr id="8" name="Picture 7" descr="fig02_vulnerable_bypass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371600"/>
            <a:ext cx="6492240" cy="5216979"/>
          </a:xfrm>
          <a:prstGeom prst="rect">
            <a:avLst/>
          </a:prstGeom>
          <a:ln w="12700">
            <a:solidFill>
              <a:srgbClr val="2A303A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303520" y="6172200"/>
            <a:ext cx="6492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1">
                <a:solidFill>
                  <a:srgbClr val="9AA4B2"/>
                </a:solidFill>
                <a:latin typeface="Segoe UI"/>
              </a:rPr>
              <a:t>Fig. 2 — Authenticated as admin with NO valid password.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9AA4B2"/>
                </a:solidFill>
                <a:latin typeface="Segoe UI"/>
              </a:rPr>
              <a:t>SQLi Defence Lab · DAS PE4 · SQL Injection with Protection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9AA4B2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7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1051560"/>
            <a:ext cx="12191695" cy="38100"/>
          </a:xfrm>
          <a:prstGeom prst="round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4F8CFF"/>
                </a:solidFill>
                <a:latin typeface="Segoe UI"/>
              </a:rPr>
              <a:t>LIVE DEMO · STEP 3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ECEFF3"/>
                </a:solidFill>
                <a:latin typeface="Segoe UI"/>
              </a:rPr>
              <a:t>Variant 1 — Parameterized query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4572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>
                <a:solidFill>
                  <a:srgbClr val="ECEFF3"/>
                </a:solidFill>
                <a:latin typeface="Segoe UI"/>
              </a:rPr>
              <a:t>•  Switch Mode = Parameterized.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ECEFF3"/>
                </a:solidFill>
                <a:latin typeface="Segoe UI"/>
              </a:rPr>
              <a:t>•  Replay the SAME payload.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ECEFF3"/>
                </a:solidFill>
                <a:latin typeface="Segoe UI"/>
              </a:rPr>
              <a:t>•  Input is bound as a parameter, not SQL.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ECEFF3"/>
                </a:solidFill>
                <a:latin typeface="Segoe UI"/>
              </a:rPr>
              <a:t>•  Panel shows: params = ["admin' OR '1'='1' -- ", "x"]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ECEFF3"/>
                </a:solidFill>
                <a:latin typeface="Segoe UI"/>
              </a:rPr>
              <a:t>•  The query structure is unchanged.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5669280"/>
            <a:ext cx="4572000" cy="731520"/>
          </a:xfrm>
          <a:prstGeom prst="roundRect">
            <a:avLst/>
          </a:prstGeom>
          <a:solidFill>
            <a:srgbClr val="17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5779008"/>
            <a:ext cx="4297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34D399"/>
                </a:solidFill>
                <a:latin typeface="Segoe UI"/>
              </a:rPr>
              <a:t>✅ Blocked — attack neutralised.</a:t>
            </a:r>
          </a:p>
        </p:txBody>
      </p:sp>
      <p:pic>
        <p:nvPicPr>
          <p:cNvPr id="8" name="Picture 7" descr="fig03_parameterized_block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371600"/>
            <a:ext cx="6492240" cy="6034305"/>
          </a:xfrm>
          <a:prstGeom prst="rect">
            <a:avLst/>
          </a:prstGeom>
          <a:ln w="12700">
            <a:solidFill>
              <a:srgbClr val="2A303A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303520" y="6172200"/>
            <a:ext cx="6492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1">
                <a:solidFill>
                  <a:srgbClr val="9AA4B2"/>
                </a:solidFill>
                <a:latin typeface="Segoe UI"/>
              </a:rPr>
              <a:t>Fig. 3 — Payload treated as literal data; login denied.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9AA4B2"/>
                </a:solidFill>
                <a:latin typeface="Segoe UI"/>
              </a:rPr>
              <a:t>SQLi Defence Lab · DAS PE4 · SQL Injection with Protection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9AA4B2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7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1051560"/>
            <a:ext cx="12191695" cy="38100"/>
          </a:xfrm>
          <a:prstGeom prst="round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4F8CFF"/>
                </a:solidFill>
                <a:latin typeface="Segoe UI"/>
              </a:rPr>
              <a:t>LIVE DEMO · STEP 4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ECEFF3"/>
                </a:solidFill>
                <a:latin typeface="Segoe UI"/>
              </a:rPr>
              <a:t>Variant 5 — Signature WAF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4572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>
                <a:solidFill>
                  <a:srgbClr val="ECEFF3"/>
                </a:solidFill>
                <a:latin typeface="Segoe UI"/>
              </a:rPr>
              <a:t>•  Enable 'Signature WAF' checkbox.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ECEFF3"/>
                </a:solidFill>
                <a:latin typeface="Segoe UI"/>
              </a:rPr>
              <a:t>•  Replay the SAME payload (any mode).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ECEFF3"/>
                </a:solidFill>
                <a:latin typeface="Segoe UI"/>
              </a:rPr>
              <a:t>•  WAF matches: tautology + comment rules.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ECEFF3"/>
                </a:solidFill>
                <a:latin typeface="Segoe UI"/>
              </a:rPr>
              <a:t>•  Request is blocked BEFORE the database.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ECEFF3"/>
                </a:solidFill>
                <a:latin typeface="Segoe UI"/>
              </a:rPr>
              <a:t>•  Mirrors OWASP CRS / ModSecurity approach.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5669280"/>
            <a:ext cx="4572000" cy="731520"/>
          </a:xfrm>
          <a:prstGeom prst="roundRect">
            <a:avLst/>
          </a:prstGeom>
          <a:solidFill>
            <a:srgbClr val="17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5779008"/>
            <a:ext cx="4297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34D399"/>
                </a:solidFill>
                <a:latin typeface="Segoe UI"/>
              </a:rPr>
              <a:t>✅ Blocked at layer 0.</a:t>
            </a:r>
          </a:p>
        </p:txBody>
      </p:sp>
      <p:pic>
        <p:nvPicPr>
          <p:cNvPr id="8" name="Picture 7" descr="fig04_waf_block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371600"/>
            <a:ext cx="6492240" cy="6016915"/>
          </a:xfrm>
          <a:prstGeom prst="rect">
            <a:avLst/>
          </a:prstGeom>
          <a:ln w="12700">
            <a:solidFill>
              <a:srgbClr val="2A303A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303520" y="6172200"/>
            <a:ext cx="6492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1">
                <a:solidFill>
                  <a:srgbClr val="9AA4B2"/>
                </a:solidFill>
                <a:latin typeface="Segoe UI"/>
              </a:rPr>
              <a:t>Fig. 4 — WAF blocks the request at the gateway.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9AA4B2"/>
                </a:solidFill>
                <a:latin typeface="Segoe UI"/>
              </a:rPr>
              <a:t>SQLi Defence Lab · DAS PE4 · SQL Injection with Protection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9AA4B2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7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1051560"/>
            <a:ext cx="12191695" cy="38100"/>
          </a:xfrm>
          <a:prstGeom prst="round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4F8CFF"/>
                </a:solidFill>
                <a:latin typeface="Segoe UI"/>
              </a:rPr>
              <a:t>LIVE DEMO · STEP 5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ECEFF3"/>
                </a:solidFill>
                <a:latin typeface="Segoe UI"/>
              </a:rPr>
              <a:t>Variant 2 — Allow-list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4572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>
                <a:solidFill>
                  <a:srgbClr val="ECEFF3"/>
                </a:solidFill>
                <a:latin typeface="Segoe UI"/>
              </a:rPr>
              <a:t>•  Switch Mode = Allow-list.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ECEFF3"/>
                </a:solidFill>
                <a:latin typeface="Segoe UI"/>
              </a:rPr>
              <a:t>•  Payload has ' and spaces → outside allow-list.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ECEFF3"/>
                </a:solidFill>
                <a:latin typeface="Segoe UI"/>
              </a:rPr>
              <a:t>•  Rejected before any query is built.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ECEFF3"/>
                </a:solidFill>
                <a:latin typeface="Segoe UI"/>
              </a:rPr>
              <a:t>•  Regex: ^[A-Za-z0-9_.@-]{1,32}$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ECEFF3"/>
                </a:solidFill>
                <a:latin typeface="Segoe UI"/>
              </a:rPr>
              <a:t>•  Legit usernames still pass.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5669280"/>
            <a:ext cx="4572000" cy="731520"/>
          </a:xfrm>
          <a:prstGeom prst="roundRect">
            <a:avLst/>
          </a:prstGeom>
          <a:solidFill>
            <a:srgbClr val="17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5779008"/>
            <a:ext cx="4297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34D399"/>
                </a:solidFill>
                <a:latin typeface="Segoe UI"/>
              </a:rPr>
              <a:t>✅ Rejected early.</a:t>
            </a:r>
          </a:p>
        </p:txBody>
      </p:sp>
      <p:pic>
        <p:nvPicPr>
          <p:cNvPr id="8" name="Picture 7" descr="fig05_allowlist_rejec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371600"/>
            <a:ext cx="6492240" cy="6016915"/>
          </a:xfrm>
          <a:prstGeom prst="rect">
            <a:avLst/>
          </a:prstGeom>
          <a:ln w="12700">
            <a:solidFill>
              <a:srgbClr val="2A303A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303520" y="6172200"/>
            <a:ext cx="6492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1">
                <a:solidFill>
                  <a:srgbClr val="9AA4B2"/>
                </a:solidFill>
                <a:latin typeface="Segoe UI"/>
              </a:rPr>
              <a:t>Fig. 5 — Input rejected by validation.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9AA4B2"/>
                </a:solidFill>
                <a:latin typeface="Segoe UI"/>
              </a:rPr>
              <a:t>SQLi Defence Lab · DAS PE4 · SQL Injection with Protection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9AA4B2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7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1051560"/>
            <a:ext cx="12191695" cy="38100"/>
          </a:xfrm>
          <a:prstGeom prst="round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4F8CFF"/>
                </a:solidFill>
                <a:latin typeface="Segoe UI"/>
              </a:rPr>
              <a:t>RESULTS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ECEFF3"/>
                </a:solidFill>
                <a:latin typeface="Segoe UI"/>
              </a:rPr>
              <a:t>Same payload, every mode (automated selftest.py)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097280" y="1554480"/>
          <a:ext cx="996696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1740"/>
                <a:gridCol w="2491740"/>
                <a:gridCol w="2491740"/>
                <a:gridCol w="2491740"/>
              </a:tblGrid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ECEFF3"/>
                          </a:solidFill>
                          <a:latin typeface="Segoe UI"/>
                        </a:rPr>
                        <a:t>Mode</a:t>
                      </a:r>
                    </a:p>
                  </a:txBody>
                  <a:tcPr anchor="ctr">
                    <a:solidFill>
                      <a:srgbClr val="4F8C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ECEFF3"/>
                          </a:solidFill>
                          <a:latin typeface="Segoe UI"/>
                        </a:rPr>
                        <a:t>WAF off: bypass?</a:t>
                      </a:r>
                    </a:p>
                  </a:txBody>
                  <a:tcPr anchor="ctr">
                    <a:solidFill>
                      <a:srgbClr val="4F8C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ECEFF3"/>
                          </a:solidFill>
                          <a:latin typeface="Segoe UI"/>
                        </a:rPr>
                        <a:t>WAF on: bypass?</a:t>
                      </a:r>
                    </a:p>
                  </a:txBody>
                  <a:tcPr anchor="ctr">
                    <a:solidFill>
                      <a:srgbClr val="4F8C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ECEFF3"/>
                          </a:solidFill>
                          <a:latin typeface="Segoe UI"/>
                        </a:rPr>
                        <a:t>Legit login</a:t>
                      </a:r>
                    </a:p>
                  </a:txBody>
                  <a:tcPr anchor="ctr">
                    <a:solidFill>
                      <a:srgbClr val="4F8C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ECEFF3"/>
                          </a:solidFill>
                          <a:latin typeface="Segoe UI"/>
                        </a:rPr>
                        <a:t>Vulnerable</a:t>
                      </a:r>
                    </a:p>
                  </a:txBody>
                  <a:tcPr anchor="ctr">
                    <a:solidFill>
                      <a:srgbClr val="17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5C72"/>
                          </a:solidFill>
                          <a:latin typeface="Segoe UI"/>
                        </a:rPr>
                        <a:t>YES</a:t>
                      </a:r>
                    </a:p>
                  </a:txBody>
                  <a:tcPr anchor="ctr">
                    <a:solidFill>
                      <a:srgbClr val="17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34D399"/>
                          </a:solidFill>
                          <a:latin typeface="Segoe UI"/>
                        </a:rPr>
                        <a:t>No</a:t>
                      </a:r>
                    </a:p>
                  </a:txBody>
                  <a:tcPr anchor="ctr">
                    <a:solidFill>
                      <a:srgbClr val="17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ECEFF3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>
                    <a:solidFill>
                      <a:srgbClr val="171B22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ECEFF3"/>
                          </a:solidFill>
                          <a:latin typeface="Segoe UI"/>
                        </a:rPr>
                        <a:t>Parameterized</a:t>
                      </a:r>
                    </a:p>
                  </a:txBody>
                  <a:tcPr anchor="ctr">
                    <a:solidFill>
                      <a:srgbClr val="1E23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34D399"/>
                          </a:solidFill>
                          <a:latin typeface="Segoe UI"/>
                        </a:rPr>
                        <a:t>No</a:t>
                      </a:r>
                    </a:p>
                  </a:txBody>
                  <a:tcPr anchor="ctr">
                    <a:solidFill>
                      <a:srgbClr val="1E23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34D399"/>
                          </a:solidFill>
                          <a:latin typeface="Segoe UI"/>
                        </a:rPr>
                        <a:t>No</a:t>
                      </a:r>
                    </a:p>
                  </a:txBody>
                  <a:tcPr anchor="ctr">
                    <a:solidFill>
                      <a:srgbClr val="1E23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34D399"/>
                          </a:solidFill>
                          <a:latin typeface="Segoe UI"/>
                        </a:rPr>
                        <a:t>OK</a:t>
                      </a:r>
                    </a:p>
                  </a:txBody>
                  <a:tcPr anchor="ctr">
                    <a:solidFill>
                      <a:srgbClr val="1E232C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ECEFF3"/>
                          </a:solidFill>
                          <a:latin typeface="Segoe UI"/>
                        </a:rPr>
                        <a:t>Allow-list</a:t>
                      </a:r>
                    </a:p>
                  </a:txBody>
                  <a:tcPr anchor="ctr">
                    <a:solidFill>
                      <a:srgbClr val="17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34D399"/>
                          </a:solidFill>
                          <a:latin typeface="Segoe UI"/>
                        </a:rPr>
                        <a:t>No</a:t>
                      </a:r>
                    </a:p>
                  </a:txBody>
                  <a:tcPr anchor="ctr">
                    <a:solidFill>
                      <a:srgbClr val="17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34D399"/>
                          </a:solidFill>
                          <a:latin typeface="Segoe UI"/>
                        </a:rPr>
                        <a:t>No</a:t>
                      </a:r>
                    </a:p>
                  </a:txBody>
                  <a:tcPr anchor="ctr">
                    <a:solidFill>
                      <a:srgbClr val="17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34D399"/>
                          </a:solidFill>
                          <a:latin typeface="Segoe UI"/>
                        </a:rPr>
                        <a:t>OK</a:t>
                      </a:r>
                    </a:p>
                  </a:txBody>
                  <a:tcPr anchor="ctr">
                    <a:solidFill>
                      <a:srgbClr val="171B22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ECEFF3"/>
                          </a:solidFill>
                          <a:latin typeface="Segoe UI"/>
                        </a:rPr>
                        <a:t>ORM</a:t>
                      </a:r>
                    </a:p>
                  </a:txBody>
                  <a:tcPr anchor="ctr">
                    <a:solidFill>
                      <a:srgbClr val="1E23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34D399"/>
                          </a:solidFill>
                          <a:latin typeface="Segoe UI"/>
                        </a:rPr>
                        <a:t>No</a:t>
                      </a:r>
                    </a:p>
                  </a:txBody>
                  <a:tcPr anchor="ctr">
                    <a:solidFill>
                      <a:srgbClr val="1E23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34D399"/>
                          </a:solidFill>
                          <a:latin typeface="Segoe UI"/>
                        </a:rPr>
                        <a:t>No</a:t>
                      </a:r>
                    </a:p>
                  </a:txBody>
                  <a:tcPr anchor="ctr">
                    <a:solidFill>
                      <a:srgbClr val="1E23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34D399"/>
                          </a:solidFill>
                          <a:latin typeface="Segoe UI"/>
                        </a:rPr>
                        <a:t>OK</a:t>
                      </a:r>
                    </a:p>
                  </a:txBody>
                  <a:tcPr anchor="ctr">
                    <a:solidFill>
                      <a:srgbClr val="1E232C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ECEFF3"/>
                          </a:solidFill>
                          <a:latin typeface="Segoe UI"/>
                        </a:rPr>
                        <a:t>Hashed</a:t>
                      </a:r>
                    </a:p>
                  </a:txBody>
                  <a:tcPr anchor="ctr">
                    <a:solidFill>
                      <a:srgbClr val="17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34D399"/>
                          </a:solidFill>
                          <a:latin typeface="Segoe UI"/>
                        </a:rPr>
                        <a:t>No</a:t>
                      </a:r>
                    </a:p>
                  </a:txBody>
                  <a:tcPr anchor="ctr">
                    <a:solidFill>
                      <a:srgbClr val="17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34D399"/>
                          </a:solidFill>
                          <a:latin typeface="Segoe UI"/>
                        </a:rPr>
                        <a:t>No</a:t>
                      </a:r>
                    </a:p>
                  </a:txBody>
                  <a:tcPr anchor="ctr">
                    <a:solidFill>
                      <a:srgbClr val="17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34D399"/>
                          </a:solidFill>
                          <a:latin typeface="Segoe UI"/>
                        </a:rPr>
                        <a:t>OK</a:t>
                      </a:r>
                    </a:p>
                  </a:txBody>
                  <a:tcPr anchor="ctr">
                    <a:solidFill>
                      <a:srgbClr val="171B2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097280" y="5394960"/>
            <a:ext cx="9966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9AA4B2"/>
                </a:solidFill>
                <a:latin typeface="Segoe UI"/>
              </a:rPr>
              <a:t>Only the vulnerable baseline (WAF off) is bypassed. Every protection variant blocks the attack; legitimate logins keep working. Measured query time &lt; 1 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9AA4B2"/>
                </a:solidFill>
                <a:latin typeface="Segoe UI"/>
              </a:rPr>
              <a:t>SQLi Defence Lab · DAS PE4 · SQL Injection with Protection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9AA4B2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7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1051560"/>
            <a:ext cx="12191695" cy="38100"/>
          </a:xfrm>
          <a:prstGeom prst="round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4F8CFF"/>
                </a:solidFill>
                <a:latin typeface="Segoe UI"/>
              </a:rPr>
              <a:t>CONCLUSION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ECEFF3"/>
                </a:solidFill>
                <a:latin typeface="Segoe UI"/>
              </a:rPr>
              <a:t>Takeaways &amp; future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6583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ECEFF3"/>
                </a:solidFill>
                <a:latin typeface="Segoe UI"/>
              </a:rPr>
              <a:t>•  Root-cause controls (parameterization, ORM, hashing) are effectively FREE and defeat SQLi.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ECEFF3"/>
                </a:solidFill>
                <a:latin typeface="Segoe UI"/>
              </a:rPr>
              <a:t>•  Validation + WAF add cheap early rejection — but are evadable, so never rely on them alone.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ECEFF3"/>
                </a:solidFill>
                <a:latin typeface="Segoe UI"/>
              </a:rPr>
              <a:t>•  Strongest posture = stack a root-cause control WITH hashing AND a WAF (defence in depth).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ECEFF3"/>
                </a:solidFill>
                <a:latin typeface="Segoe UI"/>
              </a:rPr>
              <a:t>•  Future work: add an adversarially-trained detection layer (cf. Floris et al., 2025);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ECEFF3"/>
                </a:solidFill>
                <a:latin typeface="Segoe UI"/>
              </a:rPr>
              <a:t>–  evaluate against mutated / blind payloads (cf. Qu et al., 2024).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98079" y="1463040"/>
            <a:ext cx="4206240" cy="4023360"/>
          </a:xfrm>
          <a:prstGeom prst="roundRect">
            <a:avLst/>
          </a:prstGeom>
          <a:solidFill>
            <a:srgbClr val="17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26679" y="1691640"/>
            <a:ext cx="3749039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4F8CFF"/>
                </a:solidFill>
                <a:latin typeface="Segoe UI"/>
              </a:rPr>
              <a:t>Run it yourself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ECEFF3"/>
                </a:solidFill>
                <a:latin typeface="Consolas"/>
              </a:rPr>
              <a:t>pip install -r requirements.txt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ECEFF3"/>
                </a:solidFill>
                <a:latin typeface="Consolas"/>
              </a:rPr>
              <a:t>python app.py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0" i="0">
                <a:solidFill>
                  <a:srgbClr val="ECEFF3"/>
                </a:solidFill>
                <a:latin typeface="Consolas"/>
              </a:rPr>
              <a:t>python selftest.py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9AA4B2"/>
                </a:solidFill>
                <a:latin typeface="Segoe UI"/>
              </a:rPr>
              <a:t>Repo: docs/ · report/ · prototype/ · demo/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9AA4B2"/>
                </a:solidFill>
                <a:latin typeface="Segoe UI"/>
              </a:rPr>
              <a:t>SQLi Defence Lab · DAS PE4 · SQL Injection with Protection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9AA4B2"/>
                </a:solidFill>
                <a:latin typeface="Segoe U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2743200"/>
            <a:ext cx="12191695" cy="54864"/>
          </a:xfrm>
          <a:prstGeom prst="round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880360"/>
            <a:ext cx="103327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ECEFF3"/>
                </a:solidFill>
                <a:latin typeface="Segoe UI"/>
              </a:rPr>
              <a:t>Thank you — Questions?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4F8CFF"/>
                </a:solidFill>
                <a:latin typeface="Segoe UI"/>
              </a:rPr>
              <a:t>SQL Injection with Protection · Defence-in-Depth Live Prototype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9AA4B2"/>
                </a:solidFill>
                <a:latin typeface="Segoe UI"/>
              </a:rPr>
              <a:t>SQLi Defence Lab · DAS PE4 · SQL Injection with Protection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9AA4B2"/>
                </a:solidFill>
                <a:latin typeface="Segoe UI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